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5"/>
  </p:notesMasterIdLst>
  <p:sldIdLst>
    <p:sldId id="583" r:id="rId2"/>
    <p:sldId id="585" r:id="rId3"/>
    <p:sldId id="568" r:id="rId4"/>
  </p:sldIdLst>
  <p:sldSz cx="12192000" cy="6856413"/>
  <p:notesSz cx="12192000" cy="9626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E9EDF4"/>
    <a:srgbClr val="D0D8E8"/>
    <a:srgbClr val="4F81BD"/>
    <a:srgbClr val="EFF3EA"/>
    <a:srgbClr val="DEE7D1"/>
    <a:srgbClr val="9BBB59"/>
    <a:srgbClr val="0000FF"/>
    <a:srgbClr val="E3F2FD"/>
    <a:srgbClr val="1A76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中間スタイル 2 - アクセント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621" autoAdjust="0"/>
    <p:restoredTop sz="94658"/>
  </p:normalViewPr>
  <p:slideViewPr>
    <p:cSldViewPr snapToGrid="0">
      <p:cViewPr varScale="1">
        <p:scale>
          <a:sx n="119" d="100"/>
          <a:sy n="119" d="100"/>
        </p:scale>
        <p:origin x="136" y="8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482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482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D08C24-C375-234A-A713-0D1EEABB99F2}" type="datetimeFigureOut">
              <a:t>2026/1/18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3206750" y="1203325"/>
            <a:ext cx="5778500" cy="32496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1219200" y="4632325"/>
            <a:ext cx="9753600" cy="37909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9144000"/>
            <a:ext cx="5283200" cy="482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6905625" y="9144000"/>
            <a:ext cx="5283200" cy="482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4B3738-0AA1-4F4C-86A0-4A26CA9EDA6E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625814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648352-F43B-B444-2744-A8D419DC4D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C79900D6-6CB9-1479-E44F-727F3C7199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955EA1FC-74CB-CC61-1D79-DFD1C89E2A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878C7FA-C948-73F7-0588-4C76FDEAAE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4B3738-0AA1-4F4C-86A0-4A26CA9EDA6E}" type="slidenum">
              <a:rPr lang="en-US" altLang="ja-JP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360506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8A345A-0A44-6E21-42B7-26E5DF975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76261283-25E3-BFFF-250B-16CFFC3ECE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C46F53A3-A914-081A-073B-3D109E9BB9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86B5CE2-5D68-6C55-FB75-406B0B2EEC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4B3738-0AA1-4F4C-86A0-4A26CA9EDA6E}" type="slidenum">
              <a:rPr lang="en-US" altLang="ja-JP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635297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3B116666-C100-70F5-FE61-B50FA456C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8e5c9c929f_0_0:notes">
            <a:extLst>
              <a:ext uri="{FF2B5EF4-FFF2-40B4-BE49-F238E27FC236}">
                <a16:creationId xmlns:a16="http://schemas.microsoft.com/office/drawing/2014/main" id="{D7B70D58-CB69-F2DF-EEA8-47FC955653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9375" y="739775"/>
            <a:ext cx="6577013" cy="37004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8e5c9c929f_0_0:notes">
            <a:extLst>
              <a:ext uri="{FF2B5EF4-FFF2-40B4-BE49-F238E27FC236}">
                <a16:creationId xmlns:a16="http://schemas.microsoft.com/office/drawing/2014/main" id="{08C2FA81-326C-A40A-5E1F-BE806A5201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3577" y="4686499"/>
            <a:ext cx="5388600" cy="4439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g8e5c9c929f_0_0:notes">
            <a:extLst>
              <a:ext uri="{FF2B5EF4-FFF2-40B4-BE49-F238E27FC236}">
                <a16:creationId xmlns:a16="http://schemas.microsoft.com/office/drawing/2014/main" id="{A7FD69A3-F54A-4E45-AF53-727659D10A1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15373" y="9371285"/>
            <a:ext cx="2918700" cy="493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ja-JP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993437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とコンテンツ">
  <p:cSld name="タイトルとコンテンツ">
    <p:bg>
      <p:bgPr>
        <a:solidFill>
          <a:schemeClr val="bg1"/>
        </a:solid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>
            <a:spLocks noGrp="1"/>
          </p:cNvSpPr>
          <p:nvPr>
            <p:ph type="body" idx="1" hasCustomPrompt="1"/>
          </p:nvPr>
        </p:nvSpPr>
        <p:spPr>
          <a:xfrm>
            <a:off x="216000" y="959778"/>
            <a:ext cx="11760000" cy="5662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80364" lvl="0" indent="-412647" algn="l">
              <a:lnSpc>
                <a:spcPct val="100000"/>
              </a:lnSpc>
              <a:spcBef>
                <a:spcPts val="746"/>
              </a:spcBef>
              <a:spcAft>
                <a:spcPts val="0"/>
              </a:spcAft>
              <a:buClr>
                <a:schemeClr val="accent5"/>
              </a:buClr>
              <a:buSzPct val="100000"/>
              <a:buFont typeface="Wingdings" pitchFamily="2" charset="2"/>
              <a:buChar char="n"/>
              <a:tabLst/>
              <a:defRPr sz="2133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defRPr>
            </a:lvl1pPr>
            <a:lvl2pPr marL="952262" lvl="1" indent="-471899" algn="l">
              <a:lnSpc>
                <a:spcPct val="100000"/>
              </a:lnSpc>
              <a:spcBef>
                <a:spcPts val="746"/>
              </a:spcBef>
              <a:spcAft>
                <a:spcPts val="0"/>
              </a:spcAft>
              <a:buClr>
                <a:schemeClr val="accent5"/>
              </a:buClr>
              <a:buSzPct val="100000"/>
              <a:buFont typeface="Wingdings" pitchFamily="2" charset="2"/>
              <a:buChar char="p"/>
              <a:tabLst/>
              <a:defRPr sz="2133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defRPr>
            </a:lvl2pPr>
            <a:lvl3pPr marL="1424161" lvl="2" indent="-471899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5"/>
              </a:buClr>
              <a:buSzPct val="100000"/>
              <a:buFont typeface="Arial" panose="020B0604020202020204" pitchFamily="34" charset="0"/>
              <a:buChar char="•"/>
              <a:tabLst/>
              <a:defRPr sz="2133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defRPr>
            </a:lvl3pPr>
            <a:lvl4pPr marL="2437790" lvl="3" indent="-474015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rgbClr val="2F4FA1"/>
              </a:buClr>
              <a:buSzPts val="2000"/>
              <a:buFont typeface="Noto Sans Symbols"/>
              <a:buChar char="■"/>
              <a:defRPr/>
            </a:lvl4pPr>
            <a:lvl5pPr marL="3047238" lvl="4" indent="-474015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rgbClr val="2F4FA1"/>
              </a:buClr>
              <a:buSzPts val="2000"/>
              <a:buFont typeface="Noto Sans Symbols"/>
              <a:buChar char="■"/>
              <a:defRPr/>
            </a:lvl5pPr>
            <a:lvl6pPr marL="3656686" lvl="5" indent="-457086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6133" lvl="6" indent="-457086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5581" lvl="7" indent="-457086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5028" lvl="8" indent="-457086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r>
              <a:rPr lang="en-US" dirty="0" err="1"/>
              <a:t>aaa</a:t>
            </a:r>
            <a:endParaRPr lang="en-US" dirty="0"/>
          </a:p>
          <a:p>
            <a:pPr lvl="1"/>
            <a:r>
              <a:rPr lang="en-US" dirty="0" err="1"/>
              <a:t>aaa</a:t>
            </a:r>
            <a:endParaRPr lang="en-US" dirty="0"/>
          </a:p>
          <a:p>
            <a:pPr lvl="2"/>
            <a:r>
              <a:rPr lang="en-US" dirty="0" err="1"/>
              <a:t>aaa</a:t>
            </a:r>
            <a:endParaRPr dirty="0"/>
          </a:p>
        </p:txBody>
      </p:sp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11376000" y="6622467"/>
            <a:ext cx="816000" cy="239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66" b="0" i="0" u="none" strike="noStrike" cap="none">
                <a:solidFill>
                  <a:srgbClr val="7F7F7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66" b="0" i="0" u="none" strike="noStrike" cap="none">
                <a:solidFill>
                  <a:srgbClr val="7F7F7F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66" b="0" i="0" u="none" strike="noStrike" cap="none">
                <a:solidFill>
                  <a:srgbClr val="7F7F7F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66" b="0" i="0" u="none" strike="noStrike" cap="none">
                <a:solidFill>
                  <a:srgbClr val="7F7F7F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66" b="0" i="0" u="none" strike="noStrike" cap="none">
                <a:solidFill>
                  <a:srgbClr val="7F7F7F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66" b="0" i="0" u="none" strike="noStrike" cap="none">
                <a:solidFill>
                  <a:srgbClr val="7F7F7F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66" b="0" i="0" u="none" strike="noStrike" cap="none">
                <a:solidFill>
                  <a:srgbClr val="7F7F7F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66" b="0" i="0" u="none" strike="noStrike" cap="none">
                <a:solidFill>
                  <a:srgbClr val="7F7F7F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66" b="0" i="0" u="none" strike="noStrike" cap="none">
                <a:solidFill>
                  <a:srgbClr val="7F7F7F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rtl="0"/>
            <a:fld id="{00000000-1234-1234-1234-123412341234}" type="slidenum">
              <a:rPr lang="en-US"/>
              <a:pPr rtl="0"/>
              <a:t>‹#›</a:t>
            </a:fld>
            <a:endParaRPr lang="en-US"/>
          </a:p>
        </p:txBody>
      </p:sp>
      <p:sp>
        <p:nvSpPr>
          <p:cNvPr id="29" name="Google Shape;29;p7"/>
          <p:cNvSpPr/>
          <p:nvPr/>
        </p:nvSpPr>
        <p:spPr>
          <a:xfrm>
            <a:off x="4176000" y="6622467"/>
            <a:ext cx="3840000" cy="239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2" tIns="60919" rIns="121872" bIns="60919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4FA1"/>
              </a:buClr>
              <a:buSzPts val="800"/>
              <a:buFont typeface="Noto Sans Symbols"/>
              <a:buNone/>
            </a:pPr>
            <a:r>
              <a:rPr lang="en-US" sz="933" b="0" i="0" u="none" strike="noStrike" cap="none">
                <a:solidFill>
                  <a:srgbClr val="A5A5A5"/>
                </a:solidFill>
                <a:latin typeface="Meiryo"/>
                <a:ea typeface="Meiryo"/>
                <a:cs typeface="Meiryo"/>
                <a:sym typeface="Meiryo"/>
              </a:rPr>
              <a:t>© SIOS Technology Inc. All rights Reserved.</a:t>
            </a:r>
            <a:endParaRPr sz="933" b="0" i="0" u="none" strike="noStrike" cap="non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4FA1"/>
              </a:buClr>
              <a:buSzPts val="800"/>
              <a:buFont typeface="Noto Sans Symbols"/>
              <a:buNone/>
            </a:pPr>
            <a:r>
              <a:rPr lang="en-US" sz="1066" b="0" i="0" u="none" strike="noStrike" cap="none">
                <a:solidFill>
                  <a:srgbClr val="A5A5A5"/>
                </a:solidFill>
                <a:latin typeface="Meiryo"/>
                <a:ea typeface="Meiryo"/>
                <a:cs typeface="Meiryo"/>
                <a:sym typeface="Meiryo"/>
              </a:rPr>
              <a:t>.</a:t>
            </a:r>
            <a:endParaRPr sz="1066" b="0" i="0" u="none" strike="noStrike" cap="non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0" name="Google Shape;30;p7"/>
          <p:cNvSpPr/>
          <p:nvPr/>
        </p:nvSpPr>
        <p:spPr>
          <a:xfrm>
            <a:off x="0" y="825409"/>
            <a:ext cx="12192000" cy="71983"/>
          </a:xfrm>
          <a:prstGeom prst="rect">
            <a:avLst/>
          </a:prstGeom>
          <a:solidFill>
            <a:srgbClr val="5AAFE1"/>
          </a:solidFill>
          <a:ln>
            <a:noFill/>
          </a:ln>
        </p:spPr>
        <p:txBody>
          <a:bodyPr spcFirstLastPara="1" wrap="square" lIns="121872" tIns="60919" rIns="121872" bIns="60919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2399" b="0" i="0" u="none" strike="noStrike" cap="non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1" name="Google Shape;31;p7"/>
          <p:cNvSpPr txBox="1">
            <a:spLocks noGrp="1"/>
          </p:cNvSpPr>
          <p:nvPr>
            <p:ph type="title"/>
          </p:nvPr>
        </p:nvSpPr>
        <p:spPr>
          <a:xfrm>
            <a:off x="-523" y="0"/>
            <a:ext cx="12192000" cy="815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600" b="1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pic>
        <p:nvPicPr>
          <p:cNvPr id="26" name="Google Shape;26;p7" descr="黒い背景と白い文字のロゴ&#10;&#10;中程度の精度で自動的に生成された説明"/>
          <p:cNvPicPr preferRelativeResize="0"/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176007" y="0"/>
            <a:ext cx="2009844" cy="815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2229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ユーザー設定レイアウト">
  <p:cSld name="1_ユーザー設定レイアウト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g35abee9caa4_0_370" descr="黒い背景と白い文字のロゴ&#10;&#10;中程度の精度で自動的に生成された説明"/>
          <p:cNvPicPr preferRelativeResize="0"/>
          <p:nvPr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39991" y="2268935"/>
            <a:ext cx="5712020" cy="23185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55529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68299" y="157606"/>
            <a:ext cx="1625600" cy="3359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bg1"/>
                </a:solidFill>
                <a:latin typeface="BIZ UDPGothic"/>
                <a:cs typeface="BIZ UDP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8299" y="6546976"/>
            <a:ext cx="2713990" cy="1765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50" b="0" i="0">
                <a:solidFill>
                  <a:srgbClr val="6A7280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ts val="1275"/>
              </a:lnSpc>
            </a:pPr>
            <a:endParaRPr spc="-10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D6F069-2E75-BCAF-ED1D-DE50E5E5D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95423DE9-32DA-2602-7B35-DE9D6493F21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rtl="0"/>
            <a:fld id="{00000000-1234-1234-1234-123412341234}" type="slidenum">
              <a:rPr lang="en-US" smtClean="0"/>
              <a:pPr rtl="0"/>
              <a:t>1</a:t>
            </a:fld>
            <a:endParaRPr lang="en-US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DDA0A750-A464-DEC9-7C59-0FBDA9E97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シェルスクリプトでローカルに構成</a:t>
            </a: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BC79E0B4-D5B2-C1A4-D622-043BA9BD99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0486" y="2824700"/>
            <a:ext cx="1091028" cy="13092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5" name="直線コネクタ 44">
            <a:extLst>
              <a:ext uri="{FF2B5EF4-FFF2-40B4-BE49-F238E27FC236}">
                <a16:creationId xmlns:a16="http://schemas.microsoft.com/office/drawing/2014/main" id="{AC2FB807-1ADD-C37A-EE04-EB2B81A33A78}"/>
              </a:ext>
            </a:extLst>
          </p:cNvPr>
          <p:cNvCxnSpPr>
            <a:cxnSpLocks/>
            <a:stCxn id="1032" idx="2"/>
            <a:endCxn id="7" idx="0"/>
          </p:cNvCxnSpPr>
          <p:nvPr/>
        </p:nvCxnSpPr>
        <p:spPr>
          <a:xfrm>
            <a:off x="6096000" y="1783754"/>
            <a:ext cx="0" cy="1040946"/>
          </a:xfrm>
          <a:prstGeom prst="line">
            <a:avLst/>
          </a:prstGeom>
          <a:ln w="28575">
            <a:solidFill>
              <a:schemeClr val="tx1"/>
            </a:solidFill>
            <a:tailEnd type="arrow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コネクタ: 曲線 48">
            <a:extLst>
              <a:ext uri="{FF2B5EF4-FFF2-40B4-BE49-F238E27FC236}">
                <a16:creationId xmlns:a16="http://schemas.microsoft.com/office/drawing/2014/main" id="{A8E67F32-DA4B-1A45-50B5-379F3377C1E2}"/>
              </a:ext>
            </a:extLst>
          </p:cNvPr>
          <p:cNvCxnSpPr>
            <a:cxnSpLocks/>
            <a:stCxn id="52" idx="1"/>
            <a:endCxn id="7" idx="0"/>
          </p:cNvCxnSpPr>
          <p:nvPr/>
        </p:nvCxnSpPr>
        <p:spPr>
          <a:xfrm rot="10800000" flipH="1">
            <a:off x="3936000" y="2824700"/>
            <a:ext cx="2160000" cy="2790852"/>
          </a:xfrm>
          <a:prstGeom prst="curvedConnector4">
            <a:avLst>
              <a:gd name="adj1" fmla="val -10583"/>
              <a:gd name="adj2" fmla="val 120413"/>
            </a:avLst>
          </a:prstGeom>
          <a:ln w="28575">
            <a:solidFill>
              <a:schemeClr val="tx1"/>
            </a:solidFill>
            <a:tailEnd type="arrow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2" name="Picture 4">
            <a:extLst>
              <a:ext uri="{FF2B5EF4-FFF2-40B4-BE49-F238E27FC236}">
                <a16:creationId xmlns:a16="http://schemas.microsoft.com/office/drawing/2014/main" id="{23243B48-9A7A-A030-64C3-5787040DCD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6000" y="4960935"/>
            <a:ext cx="1091028" cy="13092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" name="Picture 4">
            <a:extLst>
              <a:ext uri="{FF2B5EF4-FFF2-40B4-BE49-F238E27FC236}">
                <a16:creationId xmlns:a16="http://schemas.microsoft.com/office/drawing/2014/main" id="{928F99E2-AF1A-25F5-2880-00A80EB5D2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0486" y="4960935"/>
            <a:ext cx="1091028" cy="13092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6" name="直線コネクタ 55">
            <a:extLst>
              <a:ext uri="{FF2B5EF4-FFF2-40B4-BE49-F238E27FC236}">
                <a16:creationId xmlns:a16="http://schemas.microsoft.com/office/drawing/2014/main" id="{3967BCBE-072C-8B6F-E544-934BB8D42E20}"/>
              </a:ext>
            </a:extLst>
          </p:cNvPr>
          <p:cNvCxnSpPr>
            <a:cxnSpLocks/>
            <a:stCxn id="7" idx="2"/>
            <a:endCxn id="54" idx="0"/>
          </p:cNvCxnSpPr>
          <p:nvPr/>
        </p:nvCxnSpPr>
        <p:spPr>
          <a:xfrm>
            <a:off x="6096000" y="4133933"/>
            <a:ext cx="0" cy="827002"/>
          </a:xfrm>
          <a:prstGeom prst="line">
            <a:avLst/>
          </a:prstGeom>
          <a:ln w="28575">
            <a:solidFill>
              <a:schemeClr val="tx1"/>
            </a:solidFill>
            <a:tailEnd type="arrow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コネクタ 58">
            <a:extLst>
              <a:ext uri="{FF2B5EF4-FFF2-40B4-BE49-F238E27FC236}">
                <a16:creationId xmlns:a16="http://schemas.microsoft.com/office/drawing/2014/main" id="{461AEA7D-14D1-392D-4A0F-E2860753E5E4}"/>
              </a:ext>
            </a:extLst>
          </p:cNvPr>
          <p:cNvCxnSpPr>
            <a:cxnSpLocks/>
            <a:stCxn id="7" idx="2"/>
            <a:endCxn id="52" idx="0"/>
          </p:cNvCxnSpPr>
          <p:nvPr/>
        </p:nvCxnSpPr>
        <p:spPr>
          <a:xfrm flipH="1">
            <a:off x="4481514" y="4133933"/>
            <a:ext cx="1614486" cy="827002"/>
          </a:xfrm>
          <a:prstGeom prst="line">
            <a:avLst/>
          </a:prstGeom>
          <a:ln w="28575">
            <a:solidFill>
              <a:schemeClr val="tx1"/>
            </a:solidFill>
            <a:tailEnd type="arrow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D3874E1E-DCE0-2584-B0A2-B3777C34AB99}"/>
              </a:ext>
            </a:extLst>
          </p:cNvPr>
          <p:cNvSpPr txBox="1"/>
          <p:nvPr/>
        </p:nvSpPr>
        <p:spPr>
          <a:xfrm>
            <a:off x="6158164" y="3909220"/>
            <a:ext cx="1080000" cy="21600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kumimoji="1" lang="en-US" altLang="ja-JP" sz="1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Artifactory</a:t>
            </a:r>
            <a:endParaRPr kumimoji="1" lang="ja-JP" altLang="en-US" sz="1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025" name="テキスト ボックス 1024">
            <a:extLst>
              <a:ext uri="{FF2B5EF4-FFF2-40B4-BE49-F238E27FC236}">
                <a16:creationId xmlns:a16="http://schemas.microsoft.com/office/drawing/2014/main" id="{2749D121-33AC-85D0-C44C-7CD0E2019EE4}"/>
              </a:ext>
            </a:extLst>
          </p:cNvPr>
          <p:cNvSpPr txBox="1"/>
          <p:nvPr/>
        </p:nvSpPr>
        <p:spPr>
          <a:xfrm>
            <a:off x="3941514" y="6192051"/>
            <a:ext cx="1080000" cy="21600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kumimoji="1" lang="en-US" altLang="ja-JP" sz="1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Xray</a:t>
            </a:r>
            <a:endParaRPr kumimoji="1" lang="ja-JP" altLang="en-US" sz="1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029" name="テキスト ボックス 1028">
            <a:extLst>
              <a:ext uri="{FF2B5EF4-FFF2-40B4-BE49-F238E27FC236}">
                <a16:creationId xmlns:a16="http://schemas.microsoft.com/office/drawing/2014/main" id="{A6BD49D1-36D3-3BC1-4A44-376C1B982833}"/>
              </a:ext>
            </a:extLst>
          </p:cNvPr>
          <p:cNvSpPr txBox="1"/>
          <p:nvPr/>
        </p:nvSpPr>
        <p:spPr>
          <a:xfrm>
            <a:off x="5556000" y="6233883"/>
            <a:ext cx="1080000" cy="21600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kumimoji="1" lang="en-US" altLang="ja-JP" sz="1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PostgreSQL</a:t>
            </a:r>
          </a:p>
          <a:p>
            <a:pPr algn="ctr"/>
            <a:r>
              <a:rPr kumimoji="1" lang="en-US" altLang="ja-JP" sz="1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(Primary)</a:t>
            </a:r>
            <a:endParaRPr kumimoji="1" lang="ja-JP" altLang="en-US" sz="1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032" name="テキスト ボックス 1031">
            <a:extLst>
              <a:ext uri="{FF2B5EF4-FFF2-40B4-BE49-F238E27FC236}">
                <a16:creationId xmlns:a16="http://schemas.microsoft.com/office/drawing/2014/main" id="{EE084F0C-BD21-A775-A947-4E3DB1181DBE}"/>
              </a:ext>
            </a:extLst>
          </p:cNvPr>
          <p:cNvSpPr txBox="1"/>
          <p:nvPr/>
        </p:nvSpPr>
        <p:spPr>
          <a:xfrm>
            <a:off x="5556000" y="1495754"/>
            <a:ext cx="1080000" cy="28800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kumimoji="1" lang="en-US" altLang="ja-JP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Client</a:t>
            </a:r>
            <a:endParaRPr kumimoji="1" lang="ja-JP" altLang="en-US" sz="20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pic>
        <p:nvPicPr>
          <p:cNvPr id="1034" name="図 1033">
            <a:extLst>
              <a:ext uri="{FF2B5EF4-FFF2-40B4-BE49-F238E27FC236}">
                <a16:creationId xmlns:a16="http://schemas.microsoft.com/office/drawing/2014/main" id="{676D054C-0DFF-9648-405D-EAB9E8E862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1513" y="3248686"/>
            <a:ext cx="1587862" cy="419196"/>
          </a:xfrm>
          <a:prstGeom prst="rect">
            <a:avLst/>
          </a:prstGeom>
        </p:spPr>
      </p:pic>
      <p:pic>
        <p:nvPicPr>
          <p:cNvPr id="1036" name="図 1035">
            <a:extLst>
              <a:ext uri="{FF2B5EF4-FFF2-40B4-BE49-F238E27FC236}">
                <a16:creationId xmlns:a16="http://schemas.microsoft.com/office/drawing/2014/main" id="{9B68D005-08B2-3CB7-A051-09C0F4C994F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8078" y="5736229"/>
            <a:ext cx="927311" cy="393790"/>
          </a:xfrm>
          <a:prstGeom prst="rect">
            <a:avLst/>
          </a:prstGeom>
        </p:spPr>
      </p:pic>
      <p:pic>
        <p:nvPicPr>
          <p:cNvPr id="1038" name="図 1037" descr="挿絵, 光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9BB47561-384C-91BC-332E-BD9E1C5B50E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4611" y="5482883"/>
            <a:ext cx="574566" cy="574566"/>
          </a:xfrm>
          <a:prstGeom prst="rect">
            <a:avLst/>
          </a:prstGeom>
        </p:spPr>
      </p:pic>
      <p:sp>
        <p:nvSpPr>
          <p:cNvPr id="1062" name="テキスト ボックス 1061">
            <a:extLst>
              <a:ext uri="{FF2B5EF4-FFF2-40B4-BE49-F238E27FC236}">
                <a16:creationId xmlns:a16="http://schemas.microsoft.com/office/drawing/2014/main" id="{18A29336-4E55-0C88-CFD8-B9EB765610E8}"/>
              </a:ext>
            </a:extLst>
          </p:cNvPr>
          <p:cNvSpPr txBox="1"/>
          <p:nvPr/>
        </p:nvSpPr>
        <p:spPr>
          <a:xfrm>
            <a:off x="6064808" y="2586250"/>
            <a:ext cx="1080000" cy="21600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kumimoji="1" lang="en-US" altLang="ja-JP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HTTP(8082)</a:t>
            </a:r>
            <a:endParaRPr kumimoji="1" lang="ja-JP" altLang="en-US" sz="11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1064" name="コネクタ: 曲線 1063">
            <a:extLst>
              <a:ext uri="{FF2B5EF4-FFF2-40B4-BE49-F238E27FC236}">
                <a16:creationId xmlns:a16="http://schemas.microsoft.com/office/drawing/2014/main" id="{6F930E6C-C312-34EB-A7E4-41933CDC04A9}"/>
              </a:ext>
            </a:extLst>
          </p:cNvPr>
          <p:cNvCxnSpPr>
            <a:cxnSpLocks/>
            <a:stCxn id="52" idx="3"/>
            <a:endCxn id="54" idx="0"/>
          </p:cNvCxnSpPr>
          <p:nvPr/>
        </p:nvCxnSpPr>
        <p:spPr>
          <a:xfrm flipV="1">
            <a:off x="5027028" y="4960935"/>
            <a:ext cx="1068972" cy="654617"/>
          </a:xfrm>
          <a:prstGeom prst="curvedConnector4">
            <a:avLst>
              <a:gd name="adj1" fmla="val 9548"/>
              <a:gd name="adj2" fmla="val 142681"/>
            </a:avLst>
          </a:prstGeom>
          <a:ln w="28575">
            <a:solidFill>
              <a:schemeClr val="tx1"/>
            </a:solidFill>
            <a:tailEnd type="none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四角形: 角を丸くする 36">
            <a:extLst>
              <a:ext uri="{FF2B5EF4-FFF2-40B4-BE49-F238E27FC236}">
                <a16:creationId xmlns:a16="http://schemas.microsoft.com/office/drawing/2014/main" id="{8496B8DF-19AB-66BB-F1B5-5584E9BE75F1}"/>
              </a:ext>
            </a:extLst>
          </p:cNvPr>
          <p:cNvSpPr/>
          <p:nvPr/>
        </p:nvSpPr>
        <p:spPr>
          <a:xfrm>
            <a:off x="2136000" y="1357085"/>
            <a:ext cx="7920000" cy="5220000"/>
          </a:xfrm>
          <a:prstGeom prst="roundRect">
            <a:avLst>
              <a:gd name="adj" fmla="val 9438"/>
            </a:avLst>
          </a:prstGeom>
          <a:noFill/>
          <a:ln w="57150">
            <a:solidFill>
              <a:srgbClr val="FF99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F897AD8E-169D-0555-062E-505CEF2BA503}"/>
              </a:ext>
            </a:extLst>
          </p:cNvPr>
          <p:cNvSpPr txBox="1"/>
          <p:nvPr/>
        </p:nvSpPr>
        <p:spPr>
          <a:xfrm>
            <a:off x="2452873" y="1483107"/>
            <a:ext cx="1080000" cy="36000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kumimoji="1" lang="en-US" altLang="ja-JP" sz="2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Ubuntu</a:t>
            </a:r>
            <a:endParaRPr kumimoji="1" lang="ja-JP" altLang="en-US" sz="28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98820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7D6DC0-69AB-63F5-DEA4-347242890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449C6087-9D7D-BA28-AAC5-C42AEBAF222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rtl="0"/>
            <a:fld id="{00000000-1234-1234-1234-123412341234}" type="slidenum">
              <a:rPr lang="en-US" smtClean="0"/>
              <a:pPr rtl="0"/>
              <a:t>2</a:t>
            </a:fld>
            <a:endParaRPr lang="en-US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9D844315-83D8-68AC-ED39-AFD39A863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err="1"/>
              <a:t>IaC</a:t>
            </a:r>
            <a:r>
              <a:rPr kumimoji="1" lang="en-US" altLang="ja-JP" dirty="0"/>
              <a:t> </a:t>
            </a:r>
            <a:r>
              <a:rPr kumimoji="1" lang="ja-JP" altLang="en-US" dirty="0"/>
              <a:t>で </a:t>
            </a:r>
            <a:r>
              <a:rPr kumimoji="1" lang="en-US" altLang="ja-JP" dirty="0"/>
              <a:t>AWS EC2 </a:t>
            </a:r>
            <a:r>
              <a:rPr kumimoji="1" lang="ja-JP" altLang="en-US" dirty="0"/>
              <a:t>に構成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1D9F6BE-64C5-7DEA-DF37-247DD17694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3296" y="1878070"/>
            <a:ext cx="1185409" cy="497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2844AF37-3422-7147-7213-56FC0C25AE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6000" y="2824700"/>
            <a:ext cx="1091028" cy="13092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2584FE79-8112-C9C0-E2DB-38369316D6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0486" y="2824700"/>
            <a:ext cx="1091028" cy="13092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>
            <a:extLst>
              <a:ext uri="{FF2B5EF4-FFF2-40B4-BE49-F238E27FC236}">
                <a16:creationId xmlns:a16="http://schemas.microsoft.com/office/drawing/2014/main" id="{1123D11E-12C3-815F-32C2-E84675B401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972" y="2824700"/>
            <a:ext cx="1091028" cy="13092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>
            <a:extLst>
              <a:ext uri="{FF2B5EF4-FFF2-40B4-BE49-F238E27FC236}">
                <a16:creationId xmlns:a16="http://schemas.microsoft.com/office/drawing/2014/main" id="{2E826F69-42F7-E0BB-28A1-06839D0788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972" y="4960935"/>
            <a:ext cx="1091028" cy="13092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099CDC8D-2E1A-566B-B493-20E3AAB77AC0}"/>
              </a:ext>
            </a:extLst>
          </p:cNvPr>
          <p:cNvCxnSpPr>
            <a:cxnSpLocks/>
            <a:stCxn id="1026" idx="2"/>
            <a:endCxn id="1028" idx="0"/>
          </p:cNvCxnSpPr>
          <p:nvPr/>
        </p:nvCxnSpPr>
        <p:spPr>
          <a:xfrm flipH="1">
            <a:off x="4481514" y="2375177"/>
            <a:ext cx="1614487" cy="449523"/>
          </a:xfrm>
          <a:prstGeom prst="line">
            <a:avLst/>
          </a:prstGeom>
          <a:ln w="28575">
            <a:solidFill>
              <a:schemeClr val="tx1"/>
            </a:solidFill>
            <a:tailEnd type="arrow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4236C8F9-572E-623D-5298-132C4EAD9ED4}"/>
              </a:ext>
            </a:extLst>
          </p:cNvPr>
          <p:cNvCxnSpPr>
            <a:cxnSpLocks/>
            <a:stCxn id="1026" idx="2"/>
            <a:endCxn id="7" idx="0"/>
          </p:cNvCxnSpPr>
          <p:nvPr/>
        </p:nvCxnSpPr>
        <p:spPr>
          <a:xfrm flipH="1">
            <a:off x="6096000" y="2375177"/>
            <a:ext cx="1" cy="449523"/>
          </a:xfrm>
          <a:prstGeom prst="line">
            <a:avLst/>
          </a:prstGeom>
          <a:ln w="28575">
            <a:solidFill>
              <a:schemeClr val="tx1"/>
            </a:solidFill>
            <a:tailEnd type="arrow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42640DEE-A1DA-39BA-B3A4-27DC7FD51E02}"/>
              </a:ext>
            </a:extLst>
          </p:cNvPr>
          <p:cNvCxnSpPr>
            <a:cxnSpLocks/>
            <a:stCxn id="1026" idx="2"/>
            <a:endCxn id="8" idx="0"/>
          </p:cNvCxnSpPr>
          <p:nvPr/>
        </p:nvCxnSpPr>
        <p:spPr>
          <a:xfrm>
            <a:off x="6096001" y="2375177"/>
            <a:ext cx="1614485" cy="449523"/>
          </a:xfrm>
          <a:prstGeom prst="line">
            <a:avLst/>
          </a:prstGeom>
          <a:ln w="28575">
            <a:solidFill>
              <a:schemeClr val="tx1"/>
            </a:solidFill>
            <a:tailEnd type="arrow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98D2AF0D-AEF4-3D9F-73AD-1A4BB2F951DD}"/>
              </a:ext>
            </a:extLst>
          </p:cNvPr>
          <p:cNvCxnSpPr>
            <a:cxnSpLocks/>
            <a:stCxn id="8" idx="2"/>
          </p:cNvCxnSpPr>
          <p:nvPr/>
        </p:nvCxnSpPr>
        <p:spPr>
          <a:xfrm flipH="1">
            <a:off x="6096000" y="4133933"/>
            <a:ext cx="1614486" cy="537079"/>
          </a:xfrm>
          <a:prstGeom prst="line">
            <a:avLst/>
          </a:prstGeom>
          <a:ln w="28575">
            <a:solidFill>
              <a:schemeClr val="tx1"/>
            </a:solidFill>
            <a:tailEnd type="none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7A1B6528-DBB1-ABEF-FE37-95D31B4C69A2}"/>
              </a:ext>
            </a:extLst>
          </p:cNvPr>
          <p:cNvCxnSpPr>
            <a:cxnSpLocks/>
            <a:stCxn id="1028" idx="2"/>
          </p:cNvCxnSpPr>
          <p:nvPr/>
        </p:nvCxnSpPr>
        <p:spPr>
          <a:xfrm>
            <a:off x="4481514" y="4133933"/>
            <a:ext cx="1614486" cy="537079"/>
          </a:xfrm>
          <a:prstGeom prst="line">
            <a:avLst/>
          </a:prstGeom>
          <a:ln w="28575">
            <a:solidFill>
              <a:schemeClr val="tx1"/>
            </a:solidFill>
            <a:tailEnd type="none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コネクタ 35">
            <a:extLst>
              <a:ext uri="{FF2B5EF4-FFF2-40B4-BE49-F238E27FC236}">
                <a16:creationId xmlns:a16="http://schemas.microsoft.com/office/drawing/2014/main" id="{F277ABF4-DD1C-A9A1-E2F0-CAEAAA9463F0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4481514" y="4133933"/>
            <a:ext cx="1614486" cy="537079"/>
          </a:xfrm>
          <a:prstGeom prst="line">
            <a:avLst/>
          </a:prstGeom>
          <a:ln w="28575">
            <a:solidFill>
              <a:schemeClr val="tx1"/>
            </a:solidFill>
            <a:tailEnd type="none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コネクタ 38">
            <a:extLst>
              <a:ext uri="{FF2B5EF4-FFF2-40B4-BE49-F238E27FC236}">
                <a16:creationId xmlns:a16="http://schemas.microsoft.com/office/drawing/2014/main" id="{DC09C836-8F3A-0D32-9D09-63B911C4E97A}"/>
              </a:ext>
            </a:extLst>
          </p:cNvPr>
          <p:cNvCxnSpPr>
            <a:cxnSpLocks/>
            <a:stCxn id="8" idx="2"/>
          </p:cNvCxnSpPr>
          <p:nvPr/>
        </p:nvCxnSpPr>
        <p:spPr>
          <a:xfrm flipH="1">
            <a:off x="4481514" y="4133933"/>
            <a:ext cx="3228972" cy="537079"/>
          </a:xfrm>
          <a:prstGeom prst="line">
            <a:avLst/>
          </a:prstGeom>
          <a:ln w="28575">
            <a:solidFill>
              <a:schemeClr val="tx1"/>
            </a:solidFill>
            <a:tailEnd type="none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コネクタ 44">
            <a:extLst>
              <a:ext uri="{FF2B5EF4-FFF2-40B4-BE49-F238E27FC236}">
                <a16:creationId xmlns:a16="http://schemas.microsoft.com/office/drawing/2014/main" id="{83F3202E-7E37-62C7-AC3E-EB43B7792A6A}"/>
              </a:ext>
            </a:extLst>
          </p:cNvPr>
          <p:cNvCxnSpPr>
            <a:cxnSpLocks/>
            <a:stCxn id="1032" idx="2"/>
            <a:endCxn id="1026" idx="0"/>
          </p:cNvCxnSpPr>
          <p:nvPr/>
        </p:nvCxnSpPr>
        <p:spPr>
          <a:xfrm>
            <a:off x="6096000" y="1253983"/>
            <a:ext cx="1" cy="624087"/>
          </a:xfrm>
          <a:prstGeom prst="line">
            <a:avLst/>
          </a:prstGeom>
          <a:ln w="28575">
            <a:solidFill>
              <a:schemeClr val="tx1"/>
            </a:solidFill>
            <a:tailEnd type="arrow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コネクタ: 曲線 48">
            <a:extLst>
              <a:ext uri="{FF2B5EF4-FFF2-40B4-BE49-F238E27FC236}">
                <a16:creationId xmlns:a16="http://schemas.microsoft.com/office/drawing/2014/main" id="{9F83355C-66DC-B05A-8564-53B45FD3EA1B}"/>
              </a:ext>
            </a:extLst>
          </p:cNvPr>
          <p:cNvCxnSpPr>
            <a:cxnSpLocks/>
            <a:stCxn id="52" idx="1"/>
            <a:endCxn id="1026" idx="0"/>
          </p:cNvCxnSpPr>
          <p:nvPr/>
        </p:nvCxnSpPr>
        <p:spPr>
          <a:xfrm rot="10800000" flipH="1">
            <a:off x="3935999" y="1878070"/>
            <a:ext cx="2160001" cy="3737482"/>
          </a:xfrm>
          <a:prstGeom prst="curvedConnector4">
            <a:avLst>
              <a:gd name="adj1" fmla="val -10583"/>
              <a:gd name="adj2" fmla="val 111165"/>
            </a:avLst>
          </a:prstGeom>
          <a:ln w="28575">
            <a:solidFill>
              <a:schemeClr val="tx1"/>
            </a:solidFill>
            <a:tailEnd type="arrow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2" name="Picture 4">
            <a:extLst>
              <a:ext uri="{FF2B5EF4-FFF2-40B4-BE49-F238E27FC236}">
                <a16:creationId xmlns:a16="http://schemas.microsoft.com/office/drawing/2014/main" id="{03932E16-3689-9530-3C9C-DB3A906F8B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6000" y="4960935"/>
            <a:ext cx="1091028" cy="13092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" name="Picture 4">
            <a:extLst>
              <a:ext uri="{FF2B5EF4-FFF2-40B4-BE49-F238E27FC236}">
                <a16:creationId xmlns:a16="http://schemas.microsoft.com/office/drawing/2014/main" id="{A44A7F65-AB43-D59F-0A1E-806EC74D8F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0486" y="4960935"/>
            <a:ext cx="1091028" cy="13092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6" name="直線コネクタ 55">
            <a:extLst>
              <a:ext uri="{FF2B5EF4-FFF2-40B4-BE49-F238E27FC236}">
                <a16:creationId xmlns:a16="http://schemas.microsoft.com/office/drawing/2014/main" id="{B15DB175-C1EE-B66B-75C4-AE167625E0ED}"/>
              </a:ext>
            </a:extLst>
          </p:cNvPr>
          <p:cNvCxnSpPr>
            <a:cxnSpLocks/>
            <a:stCxn id="7" idx="2"/>
            <a:endCxn id="54" idx="0"/>
          </p:cNvCxnSpPr>
          <p:nvPr/>
        </p:nvCxnSpPr>
        <p:spPr>
          <a:xfrm>
            <a:off x="6096000" y="4133933"/>
            <a:ext cx="0" cy="827002"/>
          </a:xfrm>
          <a:prstGeom prst="line">
            <a:avLst/>
          </a:prstGeom>
          <a:ln w="28575">
            <a:solidFill>
              <a:schemeClr val="tx1"/>
            </a:solidFill>
            <a:tailEnd type="arrow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コネクタ 58">
            <a:extLst>
              <a:ext uri="{FF2B5EF4-FFF2-40B4-BE49-F238E27FC236}">
                <a16:creationId xmlns:a16="http://schemas.microsoft.com/office/drawing/2014/main" id="{FF1E33EC-379E-B2DA-5C70-70E80B67210B}"/>
              </a:ext>
            </a:extLst>
          </p:cNvPr>
          <p:cNvCxnSpPr>
            <a:cxnSpLocks/>
            <a:stCxn id="1028" idx="2"/>
            <a:endCxn id="52" idx="0"/>
          </p:cNvCxnSpPr>
          <p:nvPr/>
        </p:nvCxnSpPr>
        <p:spPr>
          <a:xfrm>
            <a:off x="4481514" y="4133933"/>
            <a:ext cx="0" cy="827002"/>
          </a:xfrm>
          <a:prstGeom prst="line">
            <a:avLst/>
          </a:prstGeom>
          <a:ln w="28575">
            <a:solidFill>
              <a:schemeClr val="tx1"/>
            </a:solidFill>
            <a:tailEnd type="arrow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7D060CEC-C341-2D08-4151-F681310B4D5A}"/>
              </a:ext>
            </a:extLst>
          </p:cNvPr>
          <p:cNvSpPr txBox="1"/>
          <p:nvPr/>
        </p:nvSpPr>
        <p:spPr>
          <a:xfrm>
            <a:off x="4651199" y="3909220"/>
            <a:ext cx="1080000" cy="21600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kumimoji="1" lang="en-US" altLang="ja-JP" sz="1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Artifactory</a:t>
            </a:r>
            <a:endParaRPr kumimoji="1" lang="ja-JP" altLang="en-US" sz="1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3F2A53C9-9CBF-18CC-E823-DCFE8E5D2A0E}"/>
              </a:ext>
            </a:extLst>
          </p:cNvPr>
          <p:cNvSpPr txBox="1"/>
          <p:nvPr/>
        </p:nvSpPr>
        <p:spPr>
          <a:xfrm>
            <a:off x="6158164" y="3909220"/>
            <a:ext cx="1080000" cy="21600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kumimoji="1" lang="en-US" altLang="ja-JP" sz="1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Artifactory</a:t>
            </a:r>
            <a:endParaRPr kumimoji="1" lang="ja-JP" altLang="en-US" sz="1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024" name="テキスト ボックス 1023">
            <a:extLst>
              <a:ext uri="{FF2B5EF4-FFF2-40B4-BE49-F238E27FC236}">
                <a16:creationId xmlns:a16="http://schemas.microsoft.com/office/drawing/2014/main" id="{9BD531BE-2EA3-B6DF-B99F-3FFC378840E0}"/>
              </a:ext>
            </a:extLst>
          </p:cNvPr>
          <p:cNvSpPr txBox="1"/>
          <p:nvPr/>
        </p:nvSpPr>
        <p:spPr>
          <a:xfrm>
            <a:off x="7852191" y="3900725"/>
            <a:ext cx="1080000" cy="21600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kumimoji="1" lang="en-US" altLang="ja-JP" sz="1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Artifactory</a:t>
            </a:r>
            <a:endParaRPr kumimoji="1" lang="ja-JP" altLang="en-US" sz="1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025" name="テキスト ボックス 1024">
            <a:extLst>
              <a:ext uri="{FF2B5EF4-FFF2-40B4-BE49-F238E27FC236}">
                <a16:creationId xmlns:a16="http://schemas.microsoft.com/office/drawing/2014/main" id="{029DBCB5-0B0F-592D-F9B8-7388D8F9B048}"/>
              </a:ext>
            </a:extLst>
          </p:cNvPr>
          <p:cNvSpPr txBox="1"/>
          <p:nvPr/>
        </p:nvSpPr>
        <p:spPr>
          <a:xfrm>
            <a:off x="3941514" y="6192051"/>
            <a:ext cx="1080000" cy="21600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kumimoji="1" lang="en-US" altLang="ja-JP" sz="1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Xray</a:t>
            </a:r>
            <a:endParaRPr kumimoji="1" lang="ja-JP" altLang="en-US" sz="1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029" name="テキスト ボックス 1028">
            <a:extLst>
              <a:ext uri="{FF2B5EF4-FFF2-40B4-BE49-F238E27FC236}">
                <a16:creationId xmlns:a16="http://schemas.microsoft.com/office/drawing/2014/main" id="{B4EAE0DC-1F89-E8A4-1F86-FFA15E5B7170}"/>
              </a:ext>
            </a:extLst>
          </p:cNvPr>
          <p:cNvSpPr txBox="1"/>
          <p:nvPr/>
        </p:nvSpPr>
        <p:spPr>
          <a:xfrm>
            <a:off x="5556000" y="6233883"/>
            <a:ext cx="1080000" cy="21600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kumimoji="1" lang="en-US" altLang="ja-JP" sz="1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PostgreSQL</a:t>
            </a:r>
          </a:p>
          <a:p>
            <a:pPr algn="ctr"/>
            <a:r>
              <a:rPr kumimoji="1" lang="en-US" altLang="ja-JP" sz="1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(Primary)</a:t>
            </a:r>
            <a:endParaRPr kumimoji="1" lang="ja-JP" altLang="en-US" sz="1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031" name="テキスト ボックス 1030">
            <a:extLst>
              <a:ext uri="{FF2B5EF4-FFF2-40B4-BE49-F238E27FC236}">
                <a16:creationId xmlns:a16="http://schemas.microsoft.com/office/drawing/2014/main" id="{C9C70188-FD0F-6E35-9BF7-FBE5BA583BF3}"/>
              </a:ext>
            </a:extLst>
          </p:cNvPr>
          <p:cNvSpPr txBox="1"/>
          <p:nvPr/>
        </p:nvSpPr>
        <p:spPr>
          <a:xfrm>
            <a:off x="7168024" y="2007649"/>
            <a:ext cx="1080000" cy="21600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kumimoji="1" lang="en-US" altLang="ja-JP" sz="1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Load Balancer (</a:t>
            </a:r>
            <a:r>
              <a:rPr kumimoji="1" lang="en-US" altLang="ja-JP" sz="1200" b="1" dirty="0" err="1">
                <a:latin typeface="メイリオ" panose="020B0604030504040204" pitchFamily="50" charset="-128"/>
                <a:ea typeface="メイリオ" panose="020B0604030504040204" pitchFamily="50" charset="-128"/>
              </a:rPr>
              <a:t>HAProxy</a:t>
            </a:r>
            <a:r>
              <a:rPr kumimoji="1" lang="en-US" altLang="ja-JP" sz="1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  <a:endParaRPr kumimoji="1" lang="ja-JP" altLang="en-US" sz="1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032" name="テキスト ボックス 1031">
            <a:extLst>
              <a:ext uri="{FF2B5EF4-FFF2-40B4-BE49-F238E27FC236}">
                <a16:creationId xmlns:a16="http://schemas.microsoft.com/office/drawing/2014/main" id="{917BE138-375F-55A9-03E8-6022F3C59216}"/>
              </a:ext>
            </a:extLst>
          </p:cNvPr>
          <p:cNvSpPr txBox="1"/>
          <p:nvPr/>
        </p:nvSpPr>
        <p:spPr>
          <a:xfrm>
            <a:off x="5556000" y="965983"/>
            <a:ext cx="1080000" cy="28800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kumimoji="1" lang="en-US" altLang="ja-JP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Client</a:t>
            </a:r>
            <a:endParaRPr kumimoji="1" lang="ja-JP" altLang="en-US" sz="20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pic>
        <p:nvPicPr>
          <p:cNvPr id="1034" name="図 1033">
            <a:extLst>
              <a:ext uri="{FF2B5EF4-FFF2-40B4-BE49-F238E27FC236}">
                <a16:creationId xmlns:a16="http://schemas.microsoft.com/office/drawing/2014/main" id="{CD1073A6-F153-91D6-9D1A-25A08AC4CD0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5336" y="3248686"/>
            <a:ext cx="1587862" cy="419196"/>
          </a:xfrm>
          <a:prstGeom prst="rect">
            <a:avLst/>
          </a:prstGeom>
        </p:spPr>
      </p:pic>
      <p:pic>
        <p:nvPicPr>
          <p:cNvPr id="1036" name="図 1035">
            <a:extLst>
              <a:ext uri="{FF2B5EF4-FFF2-40B4-BE49-F238E27FC236}">
                <a16:creationId xmlns:a16="http://schemas.microsoft.com/office/drawing/2014/main" id="{4CB3D955-3041-75D8-8BCC-645E0D12E01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8078" y="5736229"/>
            <a:ext cx="927311" cy="393790"/>
          </a:xfrm>
          <a:prstGeom prst="rect">
            <a:avLst/>
          </a:prstGeom>
        </p:spPr>
      </p:pic>
      <p:pic>
        <p:nvPicPr>
          <p:cNvPr id="1038" name="図 1037" descr="挿絵, 光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E00600D5-D2D5-152C-452A-11F1140C131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4611" y="5482883"/>
            <a:ext cx="574566" cy="574566"/>
          </a:xfrm>
          <a:prstGeom prst="rect">
            <a:avLst/>
          </a:prstGeom>
        </p:spPr>
      </p:pic>
      <p:sp>
        <p:nvSpPr>
          <p:cNvPr id="1041" name="テキスト ボックス 1040">
            <a:extLst>
              <a:ext uri="{FF2B5EF4-FFF2-40B4-BE49-F238E27FC236}">
                <a16:creationId xmlns:a16="http://schemas.microsoft.com/office/drawing/2014/main" id="{D3A4C7E3-3666-02A4-4A77-BD5350F7B6BF}"/>
              </a:ext>
            </a:extLst>
          </p:cNvPr>
          <p:cNvSpPr txBox="1"/>
          <p:nvPr/>
        </p:nvSpPr>
        <p:spPr>
          <a:xfrm>
            <a:off x="7170486" y="6192051"/>
            <a:ext cx="1080000" cy="21600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kumimoji="1" lang="en-US" altLang="ja-JP" sz="1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NFS Server</a:t>
            </a:r>
            <a:endParaRPr kumimoji="1" lang="ja-JP" altLang="en-US" sz="1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1045" name="直線コネクタ 1044">
            <a:extLst>
              <a:ext uri="{FF2B5EF4-FFF2-40B4-BE49-F238E27FC236}">
                <a16:creationId xmlns:a16="http://schemas.microsoft.com/office/drawing/2014/main" id="{3BE8D843-7C42-F3C1-1435-D9B7C51ED5F0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6096000" y="4133933"/>
            <a:ext cx="1614486" cy="537079"/>
          </a:xfrm>
          <a:prstGeom prst="line">
            <a:avLst/>
          </a:prstGeom>
          <a:ln w="28575">
            <a:solidFill>
              <a:schemeClr val="tx1"/>
            </a:solidFill>
            <a:tailEnd type="none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8" name="直線コネクタ 1047">
            <a:extLst>
              <a:ext uri="{FF2B5EF4-FFF2-40B4-BE49-F238E27FC236}">
                <a16:creationId xmlns:a16="http://schemas.microsoft.com/office/drawing/2014/main" id="{6C23A631-6664-0AA9-C42E-1995F7AA1A0B}"/>
              </a:ext>
            </a:extLst>
          </p:cNvPr>
          <p:cNvCxnSpPr>
            <a:cxnSpLocks/>
            <a:stCxn id="1028" idx="2"/>
          </p:cNvCxnSpPr>
          <p:nvPr/>
        </p:nvCxnSpPr>
        <p:spPr>
          <a:xfrm>
            <a:off x="4481514" y="4133933"/>
            <a:ext cx="3228972" cy="537079"/>
          </a:xfrm>
          <a:prstGeom prst="line">
            <a:avLst/>
          </a:prstGeom>
          <a:ln w="28575">
            <a:solidFill>
              <a:schemeClr val="tx1"/>
            </a:solidFill>
            <a:tailEnd type="none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4" name="直線コネクタ 1053">
            <a:extLst>
              <a:ext uri="{FF2B5EF4-FFF2-40B4-BE49-F238E27FC236}">
                <a16:creationId xmlns:a16="http://schemas.microsoft.com/office/drawing/2014/main" id="{D2A23837-12B3-CA98-3D8B-67939FED95F8}"/>
              </a:ext>
            </a:extLst>
          </p:cNvPr>
          <p:cNvCxnSpPr>
            <a:cxnSpLocks/>
            <a:stCxn id="8" idx="2"/>
            <a:endCxn id="11" idx="0"/>
          </p:cNvCxnSpPr>
          <p:nvPr/>
        </p:nvCxnSpPr>
        <p:spPr>
          <a:xfrm>
            <a:off x="7710486" y="4133933"/>
            <a:ext cx="0" cy="827002"/>
          </a:xfrm>
          <a:prstGeom prst="line">
            <a:avLst/>
          </a:prstGeom>
          <a:ln w="28575">
            <a:solidFill>
              <a:schemeClr val="tx1"/>
            </a:solidFill>
            <a:tailEnd type="arrow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2" name="テキスト ボックス 1061">
            <a:extLst>
              <a:ext uri="{FF2B5EF4-FFF2-40B4-BE49-F238E27FC236}">
                <a16:creationId xmlns:a16="http://schemas.microsoft.com/office/drawing/2014/main" id="{34765B08-5E5B-DA68-2CD1-DD389E7A156A}"/>
              </a:ext>
            </a:extLst>
          </p:cNvPr>
          <p:cNvSpPr txBox="1"/>
          <p:nvPr/>
        </p:nvSpPr>
        <p:spPr>
          <a:xfrm>
            <a:off x="6064808" y="2586250"/>
            <a:ext cx="1080000" cy="21600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kumimoji="1" lang="en-US" altLang="ja-JP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HTTP(8082)</a:t>
            </a:r>
            <a:endParaRPr kumimoji="1" lang="ja-JP" altLang="en-US" sz="11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1064" name="コネクタ: 曲線 1063">
            <a:extLst>
              <a:ext uri="{FF2B5EF4-FFF2-40B4-BE49-F238E27FC236}">
                <a16:creationId xmlns:a16="http://schemas.microsoft.com/office/drawing/2014/main" id="{E0104816-86C6-B812-2DC6-D5FD53C017E8}"/>
              </a:ext>
            </a:extLst>
          </p:cNvPr>
          <p:cNvCxnSpPr>
            <a:cxnSpLocks/>
            <a:stCxn id="52" idx="3"/>
            <a:endCxn id="54" idx="0"/>
          </p:cNvCxnSpPr>
          <p:nvPr/>
        </p:nvCxnSpPr>
        <p:spPr>
          <a:xfrm flipV="1">
            <a:off x="5027028" y="4960935"/>
            <a:ext cx="1068972" cy="654617"/>
          </a:xfrm>
          <a:prstGeom prst="curvedConnector4">
            <a:avLst>
              <a:gd name="adj1" fmla="val 9548"/>
              <a:gd name="adj2" fmla="val 142681"/>
            </a:avLst>
          </a:prstGeom>
          <a:ln w="28575">
            <a:solidFill>
              <a:schemeClr val="tx1"/>
            </a:solidFill>
            <a:tailEnd type="none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四角形: 角を丸くする 36">
            <a:extLst>
              <a:ext uri="{FF2B5EF4-FFF2-40B4-BE49-F238E27FC236}">
                <a16:creationId xmlns:a16="http://schemas.microsoft.com/office/drawing/2014/main" id="{245B2B2A-E9D5-340A-D07D-33D8A3C1774E}"/>
              </a:ext>
            </a:extLst>
          </p:cNvPr>
          <p:cNvSpPr/>
          <p:nvPr/>
        </p:nvSpPr>
        <p:spPr>
          <a:xfrm>
            <a:off x="2136000" y="1357085"/>
            <a:ext cx="7920000" cy="5220000"/>
          </a:xfrm>
          <a:prstGeom prst="roundRect">
            <a:avLst>
              <a:gd name="adj" fmla="val 9438"/>
            </a:avLst>
          </a:prstGeom>
          <a:noFill/>
          <a:ln w="57150">
            <a:solidFill>
              <a:srgbClr val="FF99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7FFB4F0F-6747-0598-542F-65E202CA1E95}"/>
              </a:ext>
            </a:extLst>
          </p:cNvPr>
          <p:cNvSpPr txBox="1"/>
          <p:nvPr/>
        </p:nvSpPr>
        <p:spPr>
          <a:xfrm>
            <a:off x="2271448" y="1483107"/>
            <a:ext cx="1080000" cy="36000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kumimoji="1" lang="en-US" altLang="ja-JP" sz="2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AWS</a:t>
            </a:r>
            <a:endParaRPr kumimoji="1" lang="ja-JP" altLang="en-US" sz="28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718475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>
          <a:extLst>
            <a:ext uri="{FF2B5EF4-FFF2-40B4-BE49-F238E27FC236}">
              <a16:creationId xmlns:a16="http://schemas.microsoft.com/office/drawing/2014/main" id="{85486837-440A-BE28-88A2-0776E379D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84408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5AAFE2"/>
        </a:solidFill>
        <a:ln>
          <a:noFill/>
        </a:ln>
      </a:spPr>
      <a:bodyPr rtlCol="0" anchor="ctr"/>
      <a:lstStyle>
        <a:defPPr algn="ctr">
          <a:defRPr kumimoji="1" sz="1400">
            <a:latin typeface="Meiryo UI" panose="020B0604030504040204" pitchFamily="34" charset="-128"/>
            <a:ea typeface="Meiryo UI" panose="020B0604030504040204" pitchFamily="34" charset="-128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17541</TotalTime>
  <Words>49</Words>
  <Application>Microsoft Office PowerPoint</Application>
  <PresentationFormat>ユーザー設定</PresentationFormat>
  <Paragraphs>25</Paragraphs>
  <Slides>3</Slides>
  <Notes>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10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14" baseType="lpstr">
      <vt:lpstr>BIZ UDPGothic</vt:lpstr>
      <vt:lpstr>Meiryo UI</vt:lpstr>
      <vt:lpstr>Noto Sans Symbols</vt:lpstr>
      <vt:lpstr>メイリオ</vt:lpstr>
      <vt:lpstr>メイリオ</vt:lpstr>
      <vt:lpstr>游ゴシック</vt:lpstr>
      <vt:lpstr>Arial</vt:lpstr>
      <vt:lpstr>Calibri</vt:lpstr>
      <vt:lpstr>Microsoft Sans Serif</vt:lpstr>
      <vt:lpstr>Wingdings</vt:lpstr>
      <vt:lpstr>Office Theme</vt:lpstr>
      <vt:lpstr>シェルスクリプトでローカルに構成</vt:lpstr>
      <vt:lpstr>IaC で AWS EC2 に構成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小沼 俊治</cp:lastModifiedBy>
  <cp:revision>701</cp:revision>
  <dcterms:created xsi:type="dcterms:W3CDTF">2025-07-02T13:45:38Z</dcterms:created>
  <dcterms:modified xsi:type="dcterms:W3CDTF">2026-01-18T07:50:46Z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2025-07-02T00:00:00Z</vt:filetime>
  </property>
  <property fmtid="{D5CDD505-2E9C-101B-9397-08002B2CF9AE}" pid="3" name="Producer">
    <vt:lpwstr>pypdf</vt:lpwstr>
  </property>
  <property fmtid="{D5CDD505-2E9C-101B-9397-08002B2CF9AE}" pid="4" name="LastSaved">
    <vt:filetime>2025-07-02T00:00:00Z</vt:filetime>
  </property>
</Properties>
</file>